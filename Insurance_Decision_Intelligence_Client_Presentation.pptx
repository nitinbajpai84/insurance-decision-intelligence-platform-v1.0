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positioning the product as a decision intelligence layer, not a chatbot. The client should understand that dashboards, AI, models, data context and evidence are connected into a governed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contrast the old BI mental model with the AI network. Emphasize that the network includes data, ML models, semantic context, validation and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flow from user to frontend, API gateway, text-to-SQL engine, SQL validation, Supabase and pgvector context. Emphasize controlled orchestration rather than direct database access by the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core build explanation. Facts are in operational tables, ML scores are in model tables, context is in pgvector, and the API connects all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client through how campaign effectiveness cannot be solved from campaign data alone. It requires customer, policy, sales funnel, agent and model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ETL as a business flow, not just a technical pipeline. Campaign events become features; features become scores; scores become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feature layer feeds batch scoring, which writes scores and recommended actions. Use campaign response and lead conversion as concrete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AI explanation: pgvector stores semantic context, not facts. It retrieves table meanings, KPI definitions, model descriptions and join paths for SQL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risk directly: the LLM is powerful, but the platform controls execution. Validation and evidence make it enterprise-safe and demo-stable.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demo pivot. State the question, walk through the funnel, and then point to the evidence sources that prove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user experience is not a collection of dashboards only. Dashboards are entry points into AI Intelligence, and Evidence Hub is the trust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explainability. Every answer should have a trace: the source tables, generated SQL, context used, model scores, limitations and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architecture section with a realistic production view. Make it clear this is a POC pattern that can be hardened with real ingestion, governance and MLOps.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with the client story and next steps. The strongest message is that this is a repeatable pattern for insurance decision intelligence, not a one-off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7"/>
          </a:solidFill>
          <a:ln w="12700">
            <a:solidFill>
              <a:srgbClr val="071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58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INSURANCE DECISION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INTELLIGENCE PLATFORM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34840" y="9601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BI Dashboards to AI Decision Intelligence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480560" y="21488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6DEE9"/>
                </a:solidFill>
              </a:rPr>
              <a:t>Client briefing: campaign effectiveness workflow, data architecture, ML features, pgvector context, text-to-SQL and evidence lineage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3246120"/>
            <a:ext cx="1417320" cy="237744"/>
          </a:xfrm>
          <a:prstGeom prst="roundRect">
            <a:avLst>
              <a:gd name="adj" fmla="val 46154"/>
            </a:avLst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5424" y="3296412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Campaign scenario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080760" y="3246120"/>
            <a:ext cx="1508760" cy="237744"/>
          </a:xfrm>
          <a:prstGeom prst="roundRect">
            <a:avLst>
              <a:gd name="adj" fmla="val 46154"/>
            </a:avLst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35624" y="3296412"/>
            <a:ext cx="1399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SQL-backed insights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772400" y="3246120"/>
            <a:ext cx="1188720" cy="237744"/>
          </a:xfrm>
          <a:prstGeom prst="roundRect">
            <a:avLst>
              <a:gd name="adj" fmla="val 46154"/>
            </a:avLst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27264" y="3296412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Evidence Hub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80560" y="3931920"/>
            <a:ext cx="6126480" cy="0"/>
          </a:xfrm>
          <a:prstGeom prst="line">
            <a:avLst/>
          </a:prstGeom>
          <a:noFill/>
          <a:ln w="12700">
            <a:solidFill>
              <a:srgbClr val="31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4160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C7D8"/>
                </a:solidFill>
              </a:rPr>
              <a:t>Prepared for client discussion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80560" y="4416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C7D8"/>
                </a:solidFill>
              </a:rPr>
              <a:t>June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>
              <a:gd name="adj" fmla="val 21429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868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Traditional BI is a box. AI decision intelligence is a network.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1792" y="1463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B7A"/>
                </a:solidFill>
              </a:rPr>
              <a:t>Dashboards answer known questions. Decision intelligence helps users ask new questions, connects context, validates SQL and explains recommendations with evidence.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51663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2148840"/>
            <a:ext cx="51663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2450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TRADITIONAL BI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60120" y="2743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Fixed report layer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43891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Predefined dashboards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Predefined metrics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Slow follow-up analysis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Limited explanation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Business logic hidden in reports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75120" y="2450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AI DECISION INTELLIGENCE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675120" y="2743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question layer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75120" y="3291840"/>
            <a:ext cx="43891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Role-aware questions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SQL generated from verified schema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Business context retrieved from pgvector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Model scores and recommendations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Evidence and lineage for trust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74920" y="5806440"/>
            <a:ext cx="2057400" cy="237744"/>
          </a:xfrm>
          <a:prstGeom prst="roundRect">
            <a:avLst>
              <a:gd name="adj" fmla="val 46154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9784" y="5856732"/>
            <a:ext cx="1947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From reports → decisions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>
              <a:gd name="adj" fmla="val 21429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1120140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pic>
        <p:nvPicPr>
          <p:cNvPr id="10" name="Image 0" descr="/mnt/data/01-overall-solution-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702"/>
            <a:ext cx="10652760" cy="150823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971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platform connects business users to verified SQL, insights and evidence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68680" y="370332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3272" y="38862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1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033272" y="41148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React / Next.js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33272" y="4462272"/>
            <a:ext cx="2148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Client-facing decision workspace and role-aware dashboards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593592" y="370332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3F3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58184" y="38862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758184" y="41148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FastAPI services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758184" y="4462272"/>
            <a:ext cx="2148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Orchestrates context retrieval, SQL generation, execution and evidence logging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318504" y="370332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83096" y="38862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3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483096" y="41148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Gemini LLM provider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83096" y="4462272"/>
            <a:ext cx="2148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Generates SQL and human business insights using retrieved context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043416" y="370332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3F3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08008" y="38862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4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208008" y="41148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Supabase + pgvector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208008" y="4462272"/>
            <a:ext cx="2148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Holds insurance facts and semantic context embeddings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architecture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>
              <a:gd name="adj" fmla="val 21429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3931920" cy="53035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1143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LAYERED BUILD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04672" y="1417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synthetic data to evidence-backed AI insights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240280"/>
            <a:ext cx="333756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1. Generate insurance data for customers, policies, agents and campaigns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2. Load into Supabase operational tables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3. Build leakage-safe features and model scores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4. Embed semantic context in pgvector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5. Serve insights through FastAPI and React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5349240"/>
            <a:ext cx="2834640" cy="237744"/>
          </a:xfrm>
          <a:prstGeom prst="roundRect">
            <a:avLst>
              <a:gd name="adj" fmla="val 46154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5399532"/>
            <a:ext cx="2724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Facts stay relational • Meaning goes vector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704088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pic>
        <p:nvPicPr>
          <p:cNvPr id="16" name="Image 0" descr="/mnt/data/02-data-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4109" y="1024128"/>
            <a:ext cx="311954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Insurance subject-area model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>
              <a:gd name="adj" fmla="val 21429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1120140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pic>
        <p:nvPicPr>
          <p:cNvPr id="10" name="Image 0" descr="/mnt/data/03-insurance-subject-area-mod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0698" y="1033272"/>
            <a:ext cx="7145845" cy="2834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43159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Campaign effectiveness sits across customer, campaign, sales funnel, policy and agent domains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40080" y="489204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3F3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504748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Campaign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4672" y="5330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E31B23"/>
                </a:solidFill>
              </a:rPr>
              <a:t>campaigns, campaign_targets, campaign_responses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804672" y="55595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E6B7A"/>
                </a:solidFill>
              </a:rPr>
              <a:t>Who was targeted and how they responded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456432" y="489204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21024" y="504748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Sales funnel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21024" y="5330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E31B23"/>
                </a:solidFill>
              </a:rPr>
              <a:t>leads, opportunities, policies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3621024" y="55595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E6B7A"/>
                </a:solidFill>
              </a:rPr>
              <a:t>Which responses became issued policies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272784" y="489204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37376" y="504748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Customer &amp; agent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37376" y="5330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E31B23"/>
                </a:solidFill>
              </a:rPr>
              <a:t>customers, agents, parties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6437376" y="55595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E6B7A"/>
                </a:solidFill>
              </a:rPr>
              <a:t>Who responded and who owns the follow-up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9089136" y="489204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53728" y="504748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Models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253728" y="53309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E31B23"/>
                </a:solidFill>
              </a:rPr>
              <a:t>model_scores, next_best_actions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9253728" y="55595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E6B7A"/>
                </a:solidFill>
              </a:rPr>
              <a:t>Which leads/customers should be prioritized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Campaign ETL and feature flow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>
              <a:gd name="adj" fmla="val 21429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112014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pic>
        <p:nvPicPr>
          <p:cNvPr id="10" name="Image 0" descr="/mnt/data/04-etl-elt-data-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650" y="1051560"/>
            <a:ext cx="9870219" cy="868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2514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campaign funnel is converted into feature and scoring signals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85800" y="297180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32461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RAW BUSINESS EVENTS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914400" y="3566160"/>
            <a:ext cx="30632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Campaign target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Response / click / open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Lead created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Opportunity created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Policy issued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Premium generated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26280" y="297180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3F3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54880" y="32461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FEATURE LAYER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754880" y="3566160"/>
            <a:ext cx="30632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Response count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Lead conversion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Policy conversion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Cost per lead / policy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Product gap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Customer engagement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366760" y="2971800"/>
            <a:ext cx="27432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595360" y="32461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ACTION LAYER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595360" y="3566160"/>
            <a:ext cx="21945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Model scores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Priority customers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Next-best-actions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Agent follow-up lists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Campaign budget decisions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and model layer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>
              <a:gd name="adj" fmla="val 21429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7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3840480" cy="5303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pic>
        <p:nvPicPr>
          <p:cNvPr id="10" name="Image 0" descr="/mnt/data/05-ml-feature-and-scoring-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930" y="1097280"/>
            <a:ext cx="1924459" cy="4800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63440" y="868680"/>
            <a:ext cx="704088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83480" y="11430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CAMPAIGN MODEL SIGNALS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983480" y="141732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signals convert funnel activity into decisions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983480" y="2148840"/>
            <a:ext cx="6309360" cy="530352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6360" y="22585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Campaign response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903720" y="225856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Open/click/respond/lead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052560" y="225856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B23"/>
                </a:solidFill>
              </a:rPr>
              <a:t>Prioritize responsive segments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983480" y="2779776"/>
            <a:ext cx="63093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0" y="28895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Lead conversion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903720" y="28895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Lead score, source, agent assignment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052560" y="28895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B23"/>
                </a:solidFill>
              </a:rPr>
              <a:t>Route best leads to senior agents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3410712"/>
            <a:ext cx="6309360" cy="530352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66360" y="35204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Propensity to buy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903720" y="35204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Engagement, product gap, past response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052560" y="35204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B23"/>
                </a:solidFill>
              </a:rPr>
              <a:t>Create call lists by likelihood to buy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983480" y="4041648"/>
            <a:ext cx="63093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0" y="415137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Next best product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903720" y="415137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Existing holdings, segment, behavior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052560" y="415137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B23"/>
                </a:solidFill>
              </a:rPr>
              <a:t>Recommend health rider or upgrade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983480" y="4672584"/>
            <a:ext cx="6309360" cy="530352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0" y="47823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Revenue opportunity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903720" y="47823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Expected premium × conversion probability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9052560" y="47823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B23"/>
                </a:solidFill>
              </a:rPr>
              <a:t>Rank campaigns by growth potential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074920" y="5650992"/>
            <a:ext cx="5166360" cy="237744"/>
          </a:xfrm>
          <a:prstGeom prst="roundRect">
            <a:avLst>
              <a:gd name="adj" fmla="val 46154"/>
            </a:avLst>
          </a:prstGeom>
          <a:solidFill>
            <a:srgbClr val="0D1B34"/>
          </a:solidFill>
          <a:ln w="12700">
            <a:solidFill>
              <a:srgbClr val="0D1B3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29784" y="5701284"/>
            <a:ext cx="5056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Model outputs feed model_scores, model_predictions and next_best_actions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context and pgvector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>
              <a:gd name="adj" fmla="val 21429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662940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pic>
        <p:nvPicPr>
          <p:cNvPr id="10" name="Image 0" descr="/mnt/data/06-context-pgvector-retrieval-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1609" y="1024128"/>
            <a:ext cx="4912021" cy="50749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60920" y="868680"/>
            <a:ext cx="4343400" cy="53492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680960" y="11430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WHY PGVECTOR MATTERS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680960" y="1417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Facts stay in SQL. Meaning is retrieved from vectors.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680960" y="2148840"/>
            <a:ext cx="35204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5E6B7A"/>
                </a:solidFill>
              </a:rPr>
              <a:t>The vector store does not replace the database. It stores business meaning so the LLM understands what to ask from the database.</a:t>
            </a:r>
            <a:endParaRPr lang="en-US" sz="1330" dirty="0"/>
          </a:p>
        </p:txBody>
      </p:sp>
      <p:sp>
        <p:nvSpPr>
          <p:cNvPr id="15" name="Text 12"/>
          <p:cNvSpPr/>
          <p:nvPr/>
        </p:nvSpPr>
        <p:spPr>
          <a:xfrm>
            <a:off x="7680960" y="3246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CONTEXT EXAMPLES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680960" y="3520440"/>
            <a:ext cx="352044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• Campaign conversion definition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• Valid joins across campaign → lead → policy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• Model score interpretation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• KPI formula and grain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• SQL examples using real tables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• Missing data rules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Text-to-SQL and validation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>
              <a:gd name="adj" fmla="val 21429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112014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pic>
        <p:nvPicPr>
          <p:cNvPr id="10" name="Image 0" descr="/mnt/data/07-text-to-sql-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6788" y="1024128"/>
            <a:ext cx="8053665" cy="3246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4709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LLM never acts as the source of truth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85800" y="5138928"/>
            <a:ext cx="47548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B7A"/>
                </a:solidFill>
              </a:rPr>
              <a:t>The platform retrieves verified context, generates candidate SQL, validates SELECT/WITH only, applies row limits, executes against Supabase, and only then generates business language.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806440" y="4663440"/>
            <a:ext cx="5349240" cy="1143000"/>
          </a:xfrm>
          <a:prstGeom prst="roundRect">
            <a:avLst>
              <a:gd name="adj" fmla="val 9600"/>
            </a:avLst>
          </a:prstGeom>
          <a:solidFill>
            <a:srgbClr val="FFF3F3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0760" y="4864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1B23"/>
                </a:solidFill>
              </a:rPr>
              <a:t>Demo-safe guardrail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80760" y="5212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SQL is validated against actual Supabase tables and columns before results or insights are shown.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Campaign effectiveness walkthrough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>
              <a:gd name="adj" fmla="val 21429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10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business question: “Which campaign generated the highest policy conversion?”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" y="1325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B7A"/>
                </a:solidFill>
              </a:rPr>
              <a:t>A campaign manager needs to move from engagement metrics to business action.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01168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8952" y="2240280"/>
            <a:ext cx="320040" cy="32004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3042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21762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Target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Customers selected for campaign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62072" y="201168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26664" y="2240280"/>
            <a:ext cx="320040" cy="32004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26664" y="23042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56432" y="21762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Respond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56432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Open, click, reply or opt-in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29784" y="201168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94376" y="2240280"/>
            <a:ext cx="320040" cy="32004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94376" y="23042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724144" y="21762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Convert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24144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Lead → opportunity → policy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97496" y="201168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62088" y="2240280"/>
            <a:ext cx="320040" cy="32004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62088" y="23042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991856" y="21762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Score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91856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Propensity and lead conversion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665208" y="201168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FFF3F3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829800" y="2240280"/>
            <a:ext cx="320040" cy="32004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23042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259568" y="21762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Act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259568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Assign leads and retarget segments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" y="365760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68680" y="3931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AI ANSWER SHOULD SAY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68680" y="4251960"/>
            <a:ext cx="46177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The Health Protection Upgrade campaign generated the strongest conversion, driven by affluent family customers. Prioritize follow-up for engaged non-converters and assign high-propensity leads to senior agents.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172200" y="365760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46520" y="3931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EVIDENCE BEHIND IT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4251960"/>
            <a:ext cx="46177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campaigns, campaign_targets, campaign_responses, leads, opportunities, policies, model_scores, next_best_actions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3429000" y="5715000"/>
            <a:ext cx="5394960" cy="237744"/>
          </a:xfrm>
          <a:prstGeom prst="roundRect">
            <a:avLst>
              <a:gd name="adj" fmla="val 46154"/>
            </a:avLst>
          </a:prstGeom>
          <a:solidFill>
            <a:srgbClr val="0D1B34"/>
          </a:solidFill>
          <a:ln w="12700">
            <a:solidFill>
              <a:srgbClr val="0D1B3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83864" y="5765292"/>
            <a:ext cx="5285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Dashboard answers standard questions • AI answers follow-up questions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experience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>
              <a:gd name="adj" fmla="val 21429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11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56235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pic>
        <p:nvPicPr>
          <p:cNvPr id="10" name="Image 0" descr="/mnt/data/10-ui-navigation-data-produc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65194"/>
            <a:ext cx="5074920" cy="235621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0" y="868680"/>
            <a:ext cx="5303520" cy="53492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20840" y="11430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1B23"/>
                </a:solidFill>
              </a:rPr>
              <a:t>TAB-BY-TAB STORY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720840" y="14173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dashboard feeds the AI layer and the Evidence Hub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720840" y="2331720"/>
            <a:ext cx="448056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Campaign Effectiveness shows the campaign funnel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Agent Performance shows productivity and coaching needs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Policy Lapse Risk identifies revenue at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AI Intelligence answers open business questions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Insight Evidence Hub explains why the answer is trusted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498080" y="5257800"/>
            <a:ext cx="2103120" cy="237744"/>
          </a:xfrm>
          <a:prstGeom prst="roundRect">
            <a:avLst>
              <a:gd name="adj" fmla="val 46154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52944" y="5308092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Dashboard → Ask → Evidence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 Evidence Hub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>
              <a:gd name="adj" fmla="val 21429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12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112014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pic>
        <p:nvPicPr>
          <p:cNvPr id="10" name="Image 0" descr="/mnt/data/09-insight-evidence-line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513" y="1033272"/>
            <a:ext cx="10140215" cy="1965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5204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comes from showing the lineage from data to recommendation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77240" y="4114800"/>
            <a:ext cx="4983480" cy="594360"/>
          </a:xfrm>
          <a:prstGeom prst="roundRect">
            <a:avLst>
              <a:gd name="adj" fmla="val 18462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4224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Source data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14600" y="4224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Campaigns, responses, leads, policies, model scores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63640" y="4114800"/>
            <a:ext cx="4983480" cy="594360"/>
          </a:xfrm>
          <a:prstGeom prst="roundRect">
            <a:avLst>
              <a:gd name="adj" fmla="val 18462"/>
            </a:avLst>
          </a:prstGeom>
          <a:solidFill>
            <a:srgbClr val="FFF3F3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4224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Generated SQL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01000" y="4224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Validated read-only query, row limits and execution status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4956048"/>
            <a:ext cx="4983480" cy="594360"/>
          </a:xfrm>
          <a:prstGeom prst="roundRect">
            <a:avLst>
              <a:gd name="adj" fmla="val 18462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5065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Semantic context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514600" y="50657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KPI definitions, table meanings, join paths and model context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63640" y="4956048"/>
            <a:ext cx="4983480" cy="594360"/>
          </a:xfrm>
          <a:prstGeom prst="roundRect">
            <a:avLst>
              <a:gd name="adj" fmla="val 18462"/>
            </a:avLst>
          </a:prstGeom>
          <a:solidFill>
            <a:srgbClr val="FFF3F3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5065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Business insight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01000" y="50657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</a:rPr>
              <a:t>Human explanation with key data points and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Productionized version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>
              <a:gd name="adj" fmla="val 21429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13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same pattern scales to production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35331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B7A"/>
                </a:solidFill>
              </a:rPr>
              <a:t>The POC demonstrates the architectural pattern. Production hardens the data ingestion, security, model governance and operational controls.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34290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" y="21488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1B23"/>
                </a:solidFill>
              </a:rPr>
              <a:t>1. Data ingestion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0392" y="2468880"/>
            <a:ext cx="3063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E6B7A"/>
                </a:solidFill>
              </a:rPr>
              <a:t>Policy admin, CRM, campaign platform, claims, payments and agent systems feed a governed data lake / warehouse.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480560" y="1965960"/>
            <a:ext cx="3429000" cy="1170432"/>
          </a:xfrm>
          <a:prstGeom prst="roundRect">
            <a:avLst>
              <a:gd name="adj" fmla="val 9375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45152" y="21488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1B23"/>
                </a:solidFill>
              </a:rPr>
              <a:t>2. Curated insurance layer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45152" y="2468880"/>
            <a:ext cx="3063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E6B7A"/>
                </a:solidFill>
              </a:rPr>
              <a:t>Customer, policy, campaign, agent, claims and payment domains are conformed and quality controlled.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275320" y="1965960"/>
            <a:ext cx="34290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39912" y="21488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1B23"/>
                </a:solidFill>
              </a:rPr>
              <a:t>3. Feature + model ops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39912" y="2468880"/>
            <a:ext cx="3063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E6B7A"/>
                </a:solidFill>
              </a:rPr>
              <a:t>Feature pipelines, model training, scoring, monitoring and drift detection run with auditability.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85800" y="3593592"/>
            <a:ext cx="3429000" cy="1170432"/>
          </a:xfrm>
          <a:prstGeom prst="roundRect">
            <a:avLst>
              <a:gd name="adj" fmla="val 9375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0392" y="37764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1B23"/>
                </a:solidFill>
              </a:rPr>
              <a:t>4. Semantic governance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0392" y="4096512"/>
            <a:ext cx="3063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E6B7A"/>
                </a:solidFill>
              </a:rPr>
              <a:t>Glossary, KPI definitions, schema catalog, join paths and context documents are approved and versioned.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480560" y="3593592"/>
            <a:ext cx="34290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45152" y="37764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1B23"/>
                </a:solidFill>
              </a:rPr>
              <a:t>5. AI harness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45152" y="4096512"/>
            <a:ext cx="3063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E6B7A"/>
                </a:solidFill>
              </a:rPr>
              <a:t>LLM routing, SQL validation, result validation, role access, evidence capture and feedback loops.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275320" y="3593592"/>
            <a:ext cx="3429000" cy="1170432"/>
          </a:xfrm>
          <a:prstGeom prst="roundRect">
            <a:avLst>
              <a:gd name="adj" fmla="val 9375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439912" y="37764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1B23"/>
                </a:solidFill>
              </a:rPr>
              <a:t>6. Experience layer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39912" y="4096512"/>
            <a:ext cx="3063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E6B7A"/>
                </a:solidFill>
              </a:rPr>
              <a:t>Role-based dashboards, AI Intelligence, Evidence Hub and operational actions integrated into CRM/workflow.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3246120" y="5715000"/>
            <a:ext cx="5852160" cy="237744"/>
          </a:xfrm>
          <a:prstGeom prst="roundRect">
            <a:avLst>
              <a:gd name="adj" fmla="val 46154"/>
            </a:avLst>
          </a:prstGeom>
          <a:solidFill>
            <a:srgbClr val="0D1B34"/>
          </a:solidFill>
          <a:ln w="12700">
            <a:solidFill>
              <a:srgbClr val="0D1B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00984" y="5765292"/>
            <a:ext cx="57424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POC validates pattern • Production adds governance, integrations and scale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message and next steps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>
              <a:gd name="adj" fmla="val 21429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14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client storyline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1645920"/>
            <a:ext cx="10972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1801368"/>
            <a:ext cx="347472" cy="347472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745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1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417320" y="18470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Start with the business problem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84708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6B7A"/>
                </a:solidFill>
              </a:rPr>
              <a:t>Dashboards answer known questions, but business users need follow-up answers and actions.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85800" y="2468880"/>
            <a:ext cx="10972800" cy="685800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2624328"/>
            <a:ext cx="347472" cy="347472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69748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2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417320" y="2670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Show campaign and agency scenarios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267004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6B7A"/>
                </a:solidFill>
              </a:rPr>
              <a:t>Demonstrate conversion, premium at risk, agent productivity and retention actions.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85800" y="3291840"/>
            <a:ext cx="10972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3447288"/>
            <a:ext cx="347472" cy="347472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52044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3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417320" y="34930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Ask AI Intelligence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349300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6B7A"/>
                </a:solidFill>
              </a:rPr>
              <a:t>Use a validated question such as “Which campaign generated the highest policy conversion?”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85800" y="4114800"/>
            <a:ext cx="10972800" cy="685800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4270248"/>
            <a:ext cx="347472" cy="347472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4340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4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1417320" y="43159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Open Insight Evidence Hub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431596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6B7A"/>
                </a:solidFill>
              </a:rPr>
              <a:t>Show SQL, tables, context, model signals, validation and lineage.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85800" y="4937760"/>
            <a:ext cx="10972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4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4400" y="5093208"/>
            <a:ext cx="347472" cy="347472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1663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5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417320" y="51389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Close with production path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0" y="51389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6B7A"/>
                </a:solidFill>
              </a:rPr>
              <a:t>Connect to real systems, govern the context layer and operationalize the AI harness.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0" y="6144768"/>
            <a:ext cx="12191695" cy="384048"/>
          </a:xfrm>
          <a:prstGeom prst="rect">
            <a:avLst/>
          </a:prstGeom>
          <a:solidFill>
            <a:srgbClr val="071227"/>
          </a:solidFill>
          <a:ln w="12700">
            <a:solidFill>
              <a:srgbClr val="0712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6272784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Decision intelligence pattern: structured data + ML scores + semantic context + LLM + evidence.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Decision Intelligence Platform - Client Presentation</dc:title>
  <dc:subject>Insurance Decision Intelligence Platform</dc:subject>
  <dc:creator>OpenAI</dc:creator>
  <cp:lastModifiedBy>OpenAI</cp:lastModifiedBy>
  <cp:revision>1</cp:revision>
  <dcterms:created xsi:type="dcterms:W3CDTF">2026-06-04T00:01:11Z</dcterms:created>
  <dcterms:modified xsi:type="dcterms:W3CDTF">2026-06-04T00:01:11Z</dcterms:modified>
</cp:coreProperties>
</file>