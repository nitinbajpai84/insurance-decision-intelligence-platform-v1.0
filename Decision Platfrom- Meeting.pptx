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62" r:id="rId4"/>
    <p:sldId id="263" r:id="rId5"/>
    <p:sldId id="266" r:id="rId6"/>
    <p:sldId id="272" r:id="rId7"/>
    <p:sldId id="267" r:id="rId8"/>
    <p:sldId id="259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96340" autoAdjust="0"/>
  </p:normalViewPr>
  <p:slideViewPr>
    <p:cSldViewPr snapToGrid="0" snapToObjects="1">
      <p:cViewPr varScale="1">
        <p:scale>
          <a:sx n="91" d="100"/>
          <a:sy n="91" d="100"/>
        </p:scale>
        <p:origin x="30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40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F3BBF-54C0-70B5-D5D1-7D747DC6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F77ED-3943-3B93-D73D-86D760492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04AEB-D3D1-8BE3-508D-A5BDCAFA0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 You can buy the best model on the market. Give it tools, memory, a beautiful interface. Point it at fractured, siloed, contradictory enterprise data and it will reason flawlessly straight to the wrong answer. </a:t>
            </a:r>
          </a:p>
          <a:p>
            <a:endParaRPr lang="en-SG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SG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--The analytics stack is shaped like a box. Rows, columns, tables. Clean rectangles, optimised for one job: aggregating the past into a report. It did that job well.</a:t>
            </a:r>
            <a:br>
              <a:rPr lang="en-SG" dirty="0"/>
            </a:br>
            <a:br>
              <a:rPr lang="en-SG" dirty="0"/>
            </a:br>
            <a:r>
              <a:rPr lang="en-SG" dirty="0"/>
              <a:t>--- 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an agent does not ask for a report. It asks what relates to what. It follows chains of meaning across products, customers, risks, processes and policies - crossing the boundaries the warehouse kept apart. And a box cannot hold a chain. The moment intelligence needs relationships, the rectangle breaks.</a:t>
            </a:r>
            <a:br>
              <a:rPr lang="en-SG" dirty="0"/>
            </a:br>
            <a:br>
              <a:rPr lang="en-SG" dirty="0"/>
            </a:br>
            <a:r>
              <a:rPr lang="en-SG" dirty="0"/>
              <a:t>--- </a:t>
            </a:r>
            <a:r>
              <a:rPr lang="en-S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 of AI is not box-shaped. It is network-shaped.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FB96C-FF38-DA2D-3A6C-17EC476B7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8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3BAD-D5E5-2AC3-3C7D-6429390F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D6540-8F6F-483D-270F-F70903172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C5EB4-D762-79B2-17E3-9118B0F91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CCD0D-6298-EF7B-2044-48EC4145C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90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feature layer feeds batch scoring, which writes scores and recommended actions. Use campaign response and lead conversion as concrete examples.</a:t>
            </a:r>
          </a:p>
          <a:p>
            <a:endParaRPr lang="en-US" dirty="0"/>
          </a:p>
          <a:p>
            <a:r>
              <a:rPr lang="en-SG" dirty="0" err="1"/>
              <a:t>ScoreBand</a:t>
            </a:r>
            <a:endParaRPr lang="en-SG" dirty="0"/>
          </a:p>
          <a:p>
            <a:r>
              <a:rPr lang="en-SG" dirty="0"/>
              <a:t>0.00–0.30LOW</a:t>
            </a:r>
          </a:p>
          <a:p>
            <a:r>
              <a:rPr lang="en-SG" dirty="0"/>
              <a:t>0.31–0.60MEDIUM</a:t>
            </a:r>
          </a:p>
          <a:p>
            <a:r>
              <a:rPr lang="en-SG" dirty="0"/>
              <a:t>0.61–0.80HIGH</a:t>
            </a:r>
          </a:p>
          <a:p>
            <a:r>
              <a:rPr lang="en-SG" dirty="0"/>
              <a:t>0.81–1.00VERY_HIGH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AI explanation: pgvector stores semantic context, not facts. It retrieves table meanings, KPI definitions, model descriptions and join paths for SQL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user experience is not a collection of dashboards only. Dashboards are entry points into AI Intelligence, and Evidence Hub is the trust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AD83-E64C-BE1B-5A18-657FA26A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1B71A-F774-AC89-70BB-5D3562CD4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6E389-949B-FA98-27CE-E2D50610C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17574-888B-D017-407A-E5D9007FDE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77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explainability. Every answer should have a trace: the source tables, generated SQL, context used, model scores, limitations and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core build explanation. Facts are in operational tables, ML scores are in model tables, context is in pgvector, and the API connects all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demo pivot. State the question, walk through the funnel, and then point to the evidence sources that prove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435B1-93DA-7092-295D-F16355C3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F5771FA-A257-68F5-08C7-91AD20DEC0EE}"/>
              </a:ext>
            </a:extLst>
          </p:cNvPr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we are moving towards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08998F-84B2-D427-3ED7-CE777B8C7B37}"/>
              </a:ext>
            </a:extLst>
          </p:cNvPr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E6B1366-972C-4169-811D-968F442FB647}"/>
              </a:ext>
            </a:extLst>
          </p:cNvPr>
          <p:cNvSpPr/>
          <p:nvPr/>
        </p:nvSpPr>
        <p:spPr>
          <a:xfrm>
            <a:off x="621792" y="77266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 was built for a box. Intelligence needs a network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7594E9-2906-4CA4-A234-790953DB5BB6}"/>
              </a:ext>
            </a:extLst>
          </p:cNvPr>
          <p:cNvSpPr/>
          <p:nvPr/>
        </p:nvSpPr>
        <p:spPr>
          <a:xfrm>
            <a:off x="621792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6B7A"/>
                </a:solidFill>
              </a:rPr>
              <a:t>Dashboards answer known questions. Decision intelligence helps users ask new questions, connects context, validates SQL and explains recommendations with evidence.</a:t>
            </a:r>
            <a:endParaRPr lang="en-US" sz="14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85A6AD4-BB2F-2C41-3A89-845804899B7F}"/>
              </a:ext>
            </a:extLst>
          </p:cNvPr>
          <p:cNvSpPr/>
          <p:nvPr/>
        </p:nvSpPr>
        <p:spPr>
          <a:xfrm>
            <a:off x="502920" y="2048255"/>
            <a:ext cx="5166360" cy="1928368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EA38E24-B050-4304-0A6B-C922EDA3054B}"/>
              </a:ext>
            </a:extLst>
          </p:cNvPr>
          <p:cNvSpPr/>
          <p:nvPr/>
        </p:nvSpPr>
        <p:spPr>
          <a:xfrm>
            <a:off x="502920" y="4324011"/>
            <a:ext cx="5166360" cy="1928368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07939F-6CC2-1921-DD07-5A6763443CB3}"/>
              </a:ext>
            </a:extLst>
          </p:cNvPr>
          <p:cNvSpPr/>
          <p:nvPr/>
        </p:nvSpPr>
        <p:spPr>
          <a:xfrm>
            <a:off x="872066" y="2144521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TRADITIONAL BI</a:t>
            </a:r>
            <a:endParaRPr lang="en-US" sz="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52EBFD-7B9F-A0E7-37A2-6BD4E2F8DA81}"/>
              </a:ext>
            </a:extLst>
          </p:cNvPr>
          <p:cNvSpPr/>
          <p:nvPr/>
        </p:nvSpPr>
        <p:spPr>
          <a:xfrm>
            <a:off x="872066" y="24045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Fixed report layer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F4E24E-A0BB-752F-1BC5-6E590E149474}"/>
              </a:ext>
            </a:extLst>
          </p:cNvPr>
          <p:cNvSpPr/>
          <p:nvPr/>
        </p:nvSpPr>
        <p:spPr>
          <a:xfrm>
            <a:off x="822960" y="2750987"/>
            <a:ext cx="4389120" cy="10930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Predefined dashboards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Predefined metrics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Slow follow-up analysis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Limited explanation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Business logic hidden in reports</a:t>
            </a:r>
            <a:endParaRPr lang="en-US" sz="13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76839C1-8B41-C6D9-809C-43554EA0678B}"/>
              </a:ext>
            </a:extLst>
          </p:cNvPr>
          <p:cNvSpPr/>
          <p:nvPr/>
        </p:nvSpPr>
        <p:spPr>
          <a:xfrm>
            <a:off x="822960" y="443162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AI DECISION INTELLIGENCE</a:t>
            </a:r>
            <a:endParaRPr lang="en-US" sz="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FF8092D-5237-3486-1CD9-6C885F963F82}"/>
              </a:ext>
            </a:extLst>
          </p:cNvPr>
          <p:cNvSpPr/>
          <p:nvPr/>
        </p:nvSpPr>
        <p:spPr>
          <a:xfrm>
            <a:off x="822960" y="46802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question layer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3FF9C29-E527-B2A8-AB2B-FCF273BEDE23}"/>
              </a:ext>
            </a:extLst>
          </p:cNvPr>
          <p:cNvSpPr/>
          <p:nvPr/>
        </p:nvSpPr>
        <p:spPr>
          <a:xfrm>
            <a:off x="822960" y="5035377"/>
            <a:ext cx="4389120" cy="1093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Role-aware questions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SQL generated from verified schema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Business context retrieved from pgvector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Model scores and recommendations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Evidence and lineage for trust</a:t>
            </a:r>
            <a:endParaRPr lang="en-US" sz="13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358F5F4-09CE-0061-4EBF-877405649187}"/>
              </a:ext>
            </a:extLst>
          </p:cNvPr>
          <p:cNvSpPr/>
          <p:nvPr/>
        </p:nvSpPr>
        <p:spPr>
          <a:xfrm>
            <a:off x="9685528" y="952587"/>
            <a:ext cx="2057400" cy="237744"/>
          </a:xfrm>
          <a:prstGeom prst="roundRect">
            <a:avLst>
              <a:gd name="adj" fmla="val 46154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1E9288F-B0AF-A779-B043-BA0ED476497D}"/>
              </a:ext>
            </a:extLst>
          </p:cNvPr>
          <p:cNvSpPr/>
          <p:nvPr/>
        </p:nvSpPr>
        <p:spPr>
          <a:xfrm>
            <a:off x="9795256" y="1014985"/>
            <a:ext cx="1947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From reports → decisions</a:t>
            </a:r>
            <a:endParaRPr lang="en-US" sz="7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367530-3760-2253-F51E-442A8D4C6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426" y="2048255"/>
            <a:ext cx="5699760" cy="42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1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5D22E-4FC3-A63B-682D-08A37439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164BA4F-E702-B5AC-1987-ED0A20EE8F37}"/>
              </a:ext>
            </a:extLst>
          </p:cNvPr>
          <p:cNvSpPr/>
          <p:nvPr/>
        </p:nvSpPr>
        <p:spPr>
          <a:xfrm>
            <a:off x="197722" y="26981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how this came together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CFAC9D-E4A4-9344-3B5C-C84CB1003C64}"/>
              </a:ext>
            </a:extLst>
          </p:cNvPr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FF96729-7CCB-1026-007A-422C5A1DF7D5}"/>
              </a:ext>
            </a:extLst>
          </p:cNvPr>
          <p:cNvSpPr/>
          <p:nvPr/>
        </p:nvSpPr>
        <p:spPr>
          <a:xfrm>
            <a:off x="621792" y="77266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541BD15-AB7E-2220-4C54-64B726739070}"/>
              </a:ext>
            </a:extLst>
          </p:cNvPr>
          <p:cNvSpPr/>
          <p:nvPr/>
        </p:nvSpPr>
        <p:spPr>
          <a:xfrm>
            <a:off x="9795256" y="1014985"/>
            <a:ext cx="1947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From reports → decisions</a:t>
            </a:r>
            <a:endParaRPr lang="en-US" sz="750" dirty="0"/>
          </a:p>
        </p:txBody>
      </p:sp>
      <p:pic>
        <p:nvPicPr>
          <p:cNvPr id="7" name="Image 0" descr="/mnt/data/03-insurance-subject-area-model.jpg">
            <a:extLst>
              <a:ext uri="{FF2B5EF4-FFF2-40B4-BE49-F238E27FC236}">
                <a16:creationId xmlns:a16="http://schemas.microsoft.com/office/drawing/2014/main" id="{30928428-47B2-25C5-A0F1-9FBB0E78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50" y="1202817"/>
            <a:ext cx="5959983" cy="2364229"/>
          </a:xfrm>
          <a:prstGeom prst="rect">
            <a:avLst/>
          </a:prstGeom>
        </p:spPr>
      </p:pic>
      <p:pic>
        <p:nvPicPr>
          <p:cNvPr id="8" name="Image 0" descr="/mnt/data/04-etl-elt-data-flow.jpg">
            <a:extLst>
              <a:ext uri="{FF2B5EF4-FFF2-40B4-BE49-F238E27FC236}">
                <a16:creationId xmlns:a16="http://schemas.microsoft.com/office/drawing/2014/main" id="{85EE5493-ABA6-228B-49D6-022697852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50" y="4713733"/>
            <a:ext cx="9870219" cy="8686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7627BC-4E73-4189-4648-DDB136FABAB9}"/>
              </a:ext>
            </a:extLst>
          </p:cNvPr>
          <p:cNvSpPr txBox="1"/>
          <p:nvPr/>
        </p:nvSpPr>
        <p:spPr>
          <a:xfrm>
            <a:off x="307450" y="839461"/>
            <a:ext cx="423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Step 1- Core Base Data Foundation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947FD8-DA88-5419-061F-FAE4FC599416}"/>
              </a:ext>
            </a:extLst>
          </p:cNvPr>
          <p:cNvSpPr txBox="1"/>
          <p:nvPr/>
        </p:nvSpPr>
        <p:spPr>
          <a:xfrm>
            <a:off x="307449" y="4162165"/>
            <a:ext cx="948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Step 2 – Build features and Model score , predictions and Semantic document on top of it </a:t>
            </a:r>
          </a:p>
        </p:txBody>
      </p:sp>
    </p:spTree>
    <p:extLst>
      <p:ext uri="{BB962C8B-B14F-4D97-AF65-F5344CB8AC3E}">
        <p14:creationId xmlns:p14="http://schemas.microsoft.com/office/powerpoint/2010/main" val="358104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606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and model layer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70079" y="845397"/>
            <a:ext cx="2305459" cy="580305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0" name="Image 0" descr="/mnt/data/05-ml-feature-and-scoring-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22" y="1069116"/>
            <a:ext cx="2226963" cy="55552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49115" y="868679"/>
            <a:ext cx="9490485" cy="5803053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/>
          <p:nvPr/>
        </p:nvSpPr>
        <p:spPr>
          <a:xfrm>
            <a:off x="2658534" y="984589"/>
            <a:ext cx="93168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SG" sz="2000" dirty="0"/>
              <a:t>The models use customer, policy, campaign, payment, engagement, service, and agent interaction signals. </a:t>
            </a:r>
            <a:r>
              <a:rPr lang="en-SG" sz="2000" dirty="0">
                <a:solidFill>
                  <a:schemeClr val="accent2">
                    <a:lumMod val="75000"/>
                  </a:schemeClr>
                </a:solidFill>
              </a:rPr>
              <a:t>In a production version, these same features would be trained and calibrated on the historical outcomes. So We need to timely refresh them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672495" y="1581912"/>
            <a:ext cx="1776307" cy="91440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/>
          <p:nvPr/>
        </p:nvSpPr>
        <p:spPr>
          <a:xfrm>
            <a:off x="2842922" y="1621367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Campaign response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42922" y="186766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Open/click/respond/lead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721417" y="2144353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1B23"/>
                </a:solidFill>
              </a:rPr>
              <a:t>Prioritize responsive segments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28110" y="1613746"/>
            <a:ext cx="2237755" cy="90982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5150258" y="1638469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Lead conversion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52770" y="1864021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Lead score, source, agent assignment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27739" y="2151465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1B23"/>
                </a:solidFill>
              </a:rPr>
              <a:t>Route best leads to senior agents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997113" y="1568788"/>
            <a:ext cx="2336124" cy="954786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7464445" y="160934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Propensity to buy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078052" y="1864021"/>
            <a:ext cx="2336124" cy="17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Engagement, product gap, past response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130781" y="2106041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1B23"/>
                </a:solidFill>
              </a:rPr>
              <a:t>Create call lists by likelihood to buy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491548" y="1544405"/>
            <a:ext cx="2336123" cy="95190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4"/>
          <p:cNvSpPr/>
          <p:nvPr/>
        </p:nvSpPr>
        <p:spPr>
          <a:xfrm>
            <a:off x="10075332" y="1607228"/>
            <a:ext cx="1315903" cy="20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Next best product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642885" y="18562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Existing holdings, segment, behavior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569963" y="20933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1B23"/>
                </a:solidFill>
              </a:rPr>
              <a:t>Recommend health rider or upgrade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672495" y="2572327"/>
            <a:ext cx="9302913" cy="4051991"/>
          </a:xfrm>
          <a:prstGeom prst="roundRect">
            <a:avLst>
              <a:gd name="adj" fmla="val 996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35" name="Text 32"/>
          <p:cNvSpPr/>
          <p:nvPr/>
        </p:nvSpPr>
        <p:spPr>
          <a:xfrm>
            <a:off x="4360764" y="2695531"/>
            <a:ext cx="5056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 outputs feed model_scores, model_predictions and next_best_actions</a:t>
            </a:r>
            <a:endParaRPr lang="en-US" sz="75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D5967969-07F9-3789-E689-80260BD95BB9}"/>
              </a:ext>
            </a:extLst>
          </p:cNvPr>
          <p:cNvSpPr/>
          <p:nvPr/>
        </p:nvSpPr>
        <p:spPr>
          <a:xfrm>
            <a:off x="3081658" y="2559924"/>
            <a:ext cx="8148945" cy="46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11827"/>
                </a:solidFill>
              </a:rPr>
              <a:t>Propensity to buy (Intent) : </a:t>
            </a:r>
            <a:r>
              <a:rPr lang="en-SG" sz="1050" dirty="0"/>
              <a:t>model estimates which customers are most likely to buy another product within a defined future window, such as the next 30, 60, or 90 days</a:t>
            </a:r>
            <a:endParaRPr lang="en-US" sz="1050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8012311-4541-625F-B906-57AB5621F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358759"/>
              </p:ext>
            </p:extLst>
          </p:nvPr>
        </p:nvGraphicFramePr>
        <p:xfrm>
          <a:off x="2719442" y="3219989"/>
          <a:ext cx="2604662" cy="2561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9">
                  <a:extLst>
                    <a:ext uri="{9D8B030D-6E8A-4147-A177-3AD203B41FA5}">
                      <a16:colId xmlns:a16="http://schemas.microsoft.com/office/drawing/2014/main" val="3861956944"/>
                    </a:ext>
                  </a:extLst>
                </a:gridCol>
                <a:gridCol w="1693433">
                  <a:extLst>
                    <a:ext uri="{9D8B030D-6E8A-4147-A177-3AD203B41FA5}">
                      <a16:colId xmlns:a16="http://schemas.microsoft.com/office/drawing/2014/main" val="1181201158"/>
                    </a:ext>
                  </a:extLst>
                </a:gridCol>
              </a:tblGrid>
              <a:tr h="25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870396"/>
                  </a:ext>
                </a:extLst>
              </a:tr>
              <a:tr h="25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Model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701597"/>
                  </a:ext>
                </a:extLst>
              </a:tr>
              <a:tr h="25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21748"/>
                  </a:ext>
                </a:extLst>
              </a:tr>
              <a:tr h="25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/>
                        <a:t>Prediction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Next 30 / 60 / 90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013178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50" dirty="0"/>
                        <a:t>1 if customer purchases a new policy in prediction window, else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578931"/>
                  </a:ext>
                </a:extLst>
              </a:tr>
              <a:tr h="358455">
                <a:tc>
                  <a:txBody>
                    <a:bodyPr/>
                    <a:lstStyle/>
                    <a:p>
                      <a:r>
                        <a:rPr lang="en-SG" sz="1050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Propensity score between 0 and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724511"/>
                  </a:ext>
                </a:extLst>
              </a:tr>
              <a:tr h="3584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G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SG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model_scores</a:t>
                      </a:r>
                      <a:r>
                        <a:rPr lang="en-SG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SG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model_predictions</a:t>
                      </a:r>
                      <a:endParaRPr lang="en-SG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491529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9ABA459B-0792-A3F1-C0CF-FBD8A2AAA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35" y="3235942"/>
            <a:ext cx="3131533" cy="2736057"/>
          </a:xfrm>
          <a:prstGeom prst="rect">
            <a:avLst/>
          </a:prstGeom>
        </p:spPr>
      </p:pic>
      <p:sp>
        <p:nvSpPr>
          <p:cNvPr id="45" name="Text 12">
            <a:extLst>
              <a:ext uri="{FF2B5EF4-FFF2-40B4-BE49-F238E27FC236}">
                <a16:creationId xmlns:a16="http://schemas.microsoft.com/office/drawing/2014/main" id="{DAE841FD-1B29-4883-9CA1-30C6060B0BE5}"/>
              </a:ext>
            </a:extLst>
          </p:cNvPr>
          <p:cNvSpPr/>
          <p:nvPr/>
        </p:nvSpPr>
        <p:spPr>
          <a:xfrm>
            <a:off x="3428811" y="3010733"/>
            <a:ext cx="1224649" cy="171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Define - Properties</a:t>
            </a:r>
            <a:endParaRPr lang="en-US" sz="105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1E52785E-B96C-EB44-DCE0-8BC97D39B7F8}"/>
              </a:ext>
            </a:extLst>
          </p:cNvPr>
          <p:cNvSpPr/>
          <p:nvPr/>
        </p:nvSpPr>
        <p:spPr>
          <a:xfrm>
            <a:off x="6633768" y="2992826"/>
            <a:ext cx="1375649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Define -Signals</a:t>
            </a:r>
            <a:endParaRPr lang="en-US" sz="1050" dirty="0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49B5843F-0260-22A2-5B98-BD84FDF5FA9B}"/>
              </a:ext>
            </a:extLst>
          </p:cNvPr>
          <p:cNvSpPr/>
          <p:nvPr/>
        </p:nvSpPr>
        <p:spPr>
          <a:xfrm>
            <a:off x="5339341" y="4500629"/>
            <a:ext cx="143075" cy="228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396D5A84-20E9-BCA9-FF91-F1C8402EA0FE}"/>
              </a:ext>
            </a:extLst>
          </p:cNvPr>
          <p:cNvSpPr/>
          <p:nvPr/>
        </p:nvSpPr>
        <p:spPr>
          <a:xfrm>
            <a:off x="8714709" y="4512470"/>
            <a:ext cx="143075" cy="228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7959C016-FC82-54F9-2C5D-B3CD4E2597C3}"/>
              </a:ext>
            </a:extLst>
          </p:cNvPr>
          <p:cNvSpPr/>
          <p:nvPr/>
        </p:nvSpPr>
        <p:spPr>
          <a:xfrm>
            <a:off x="8827480" y="3205720"/>
            <a:ext cx="2898155" cy="136753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E0E4AD-01DF-8317-9CFA-F7CF389824A0}"/>
              </a:ext>
            </a:extLst>
          </p:cNvPr>
          <p:cNvSpPr txBox="1"/>
          <p:nvPr/>
        </p:nvSpPr>
        <p:spPr>
          <a:xfrm>
            <a:off x="8903326" y="3194849"/>
            <a:ext cx="26094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700" dirty="0"/>
              <a:t>Propensity features are calculated using only data before the snapshot date.</a:t>
            </a:r>
          </a:p>
          <a:p>
            <a:r>
              <a:rPr lang="en-SG" sz="700" dirty="0"/>
              <a:t>Example:</a:t>
            </a:r>
          </a:p>
          <a:p>
            <a:r>
              <a:rPr lang="en-SG" sz="700" dirty="0" err="1"/>
              <a:t>snapshot_date</a:t>
            </a:r>
            <a:r>
              <a:rPr lang="en-SG" sz="700" dirty="0"/>
              <a:t> = 2026-06-01</a:t>
            </a:r>
          </a:p>
          <a:p>
            <a:endParaRPr lang="en-SG" sz="700" dirty="0"/>
          </a:p>
          <a:p>
            <a:r>
              <a:rPr lang="en-SG" sz="700" dirty="0"/>
              <a:t>Features:</a:t>
            </a:r>
          </a:p>
          <a:p>
            <a:r>
              <a:rPr lang="en-SG" sz="700" dirty="0"/>
              <a:t>- campaign responses from 2026-03-01 to 2026-06-01</a:t>
            </a:r>
          </a:p>
          <a:p>
            <a:r>
              <a:rPr lang="en-SG" sz="700" dirty="0"/>
              <a:t>- policies active as of 2026-06-01</a:t>
            </a:r>
          </a:p>
          <a:p>
            <a:pPr marL="171450" indent="-171450">
              <a:buFontTx/>
              <a:buChar char="-"/>
            </a:pPr>
            <a:r>
              <a:rPr lang="en-SG" sz="700" dirty="0"/>
              <a:t>agent meetings before 2026-06-01</a:t>
            </a:r>
          </a:p>
          <a:p>
            <a:r>
              <a:rPr lang="en-SG" sz="700" dirty="0"/>
              <a:t>Label:</a:t>
            </a:r>
          </a:p>
          <a:p>
            <a:r>
              <a:rPr lang="en-SG" sz="700" dirty="0"/>
              <a:t>- did the customer buy a new product between 2026-06-01 and 2026-08-30?</a:t>
            </a: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8CA85787-69A2-4EFB-F0FC-D0B2D2BA3113}"/>
              </a:ext>
            </a:extLst>
          </p:cNvPr>
          <p:cNvSpPr/>
          <p:nvPr/>
        </p:nvSpPr>
        <p:spPr>
          <a:xfrm>
            <a:off x="9416739" y="2965518"/>
            <a:ext cx="186934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Calculation &amp; labelling</a:t>
            </a:r>
            <a:endParaRPr lang="en-US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326909-50A1-0175-E793-85E1C4173873}"/>
              </a:ext>
            </a:extLst>
          </p:cNvPr>
          <p:cNvSpPr txBox="1"/>
          <p:nvPr/>
        </p:nvSpPr>
        <p:spPr>
          <a:xfrm>
            <a:off x="8866384" y="5940180"/>
            <a:ext cx="2833902" cy="657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>
            <a:lvl1pPr>
              <a:defRPr sz="700"/>
            </a:lvl1pPr>
          </a:lstStyle>
          <a:p>
            <a:r>
              <a:rPr lang="en-SG" sz="900" dirty="0"/>
              <a:t>In- production model is not a single hard-coded formula; it is a supervised classification model.</a:t>
            </a:r>
          </a:p>
          <a:p>
            <a:r>
              <a:rPr lang="en-SG" sz="900" dirty="0"/>
              <a:t>But conceptually, the </a:t>
            </a:r>
            <a:r>
              <a:rPr lang="en-SG" sz="900" dirty="0">
                <a:solidFill>
                  <a:srgbClr val="FF0000"/>
                </a:solidFill>
              </a:rPr>
              <a:t>propensity score is a weighted combination of buying signals</a:t>
            </a:r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6D688DAF-53FF-68D6-359D-8253CE2B89EC}"/>
              </a:ext>
            </a:extLst>
          </p:cNvPr>
          <p:cNvSpPr/>
          <p:nvPr/>
        </p:nvSpPr>
        <p:spPr>
          <a:xfrm>
            <a:off x="8966623" y="4793892"/>
            <a:ext cx="2759011" cy="1081854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493E49-DCBD-5859-AE3F-CF2F81E7848F}"/>
              </a:ext>
            </a:extLst>
          </p:cNvPr>
          <p:cNvSpPr txBox="1"/>
          <p:nvPr/>
        </p:nvSpPr>
        <p:spPr>
          <a:xfrm>
            <a:off x="9046098" y="4863803"/>
            <a:ext cx="2528022" cy="958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>
            <a:lvl1pPr>
              <a:defRPr sz="700"/>
            </a:lvl1pPr>
          </a:lstStyle>
          <a:p>
            <a:r>
              <a:rPr lang="en-SG" dirty="0"/>
              <a:t>Propensity Score =</a:t>
            </a:r>
          </a:p>
          <a:p>
            <a:r>
              <a:rPr lang="en-SG" dirty="0"/>
              <a:t>  0.25 × campaign engagement score</a:t>
            </a:r>
          </a:p>
          <a:p>
            <a:r>
              <a:rPr lang="en-SG" dirty="0"/>
              <a:t>+ 0.20 × quote / lead activity score</a:t>
            </a:r>
          </a:p>
          <a:p>
            <a:r>
              <a:rPr lang="en-SG" dirty="0"/>
              <a:t>+ 0.15 × product gap opportunity</a:t>
            </a:r>
          </a:p>
          <a:p>
            <a:r>
              <a:rPr lang="en-SG" dirty="0"/>
              <a:t>+ 0.15 × customer value score</a:t>
            </a:r>
          </a:p>
          <a:p>
            <a:r>
              <a:rPr lang="en-SG" dirty="0"/>
              <a:t>+ 0.10 × agent contact recency score</a:t>
            </a:r>
          </a:p>
          <a:p>
            <a:r>
              <a:rPr lang="en-SG" dirty="0"/>
              <a:t>+ 0.10 × digital engagement score</a:t>
            </a:r>
          </a:p>
          <a:p>
            <a:r>
              <a:rPr lang="en-SG" dirty="0"/>
              <a:t>- 0.05 × unresolved complaint penalty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A6E6B8E7-8C33-DF70-71B2-930712A921E3}"/>
              </a:ext>
            </a:extLst>
          </p:cNvPr>
          <p:cNvSpPr/>
          <p:nvPr/>
        </p:nvSpPr>
        <p:spPr>
          <a:xfrm rot="5400000">
            <a:off x="10177853" y="4563394"/>
            <a:ext cx="143075" cy="228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5F2D79F2-7F57-B8E0-7A0F-0842535FD6B0}"/>
              </a:ext>
            </a:extLst>
          </p:cNvPr>
          <p:cNvSpPr/>
          <p:nvPr/>
        </p:nvSpPr>
        <p:spPr>
          <a:xfrm>
            <a:off x="10621349" y="5255664"/>
            <a:ext cx="143075" cy="228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2246D27B-3EB0-87A5-9236-11001797A0D9}"/>
              </a:ext>
            </a:extLst>
          </p:cNvPr>
          <p:cNvSpPr/>
          <p:nvPr/>
        </p:nvSpPr>
        <p:spPr>
          <a:xfrm>
            <a:off x="10894277" y="4956905"/>
            <a:ext cx="679843" cy="71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Low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Medium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High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Propensity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context and pgvector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662940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0" name="Image 0" descr="/mnt/data/06-context-pgvector-retrieval-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609" y="1024128"/>
            <a:ext cx="4912021" cy="5074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269480" y="868680"/>
            <a:ext cx="4343400" cy="53492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/>
          <p:nvPr/>
        </p:nvSpPr>
        <p:spPr>
          <a:xfrm>
            <a:off x="7622931" y="1152145"/>
            <a:ext cx="3636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still stays in SQL. But context or meaning is retrieved from vectors.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2930" y="1801368"/>
            <a:ext cx="3965331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5E6B7A"/>
                </a:solidFill>
              </a:rPr>
              <a:t>The vector store does not replace the database. It just stores business meaning so the LLM understands what to ask from the database.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7680960" y="2852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CONTEXT EXAMPLES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638757" y="3017520"/>
            <a:ext cx="3520440" cy="131532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• Campaign conversion definition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• Valid joins across campaign → lead → policy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• Model score interpretation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• KPI formula and grain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• SQL examples using real tables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• Missing data rules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experience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56235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0" name="Image 0" descr="/mnt/data/10-ui-navigation-data-produc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65194"/>
            <a:ext cx="5074920" cy="235621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0" y="868680"/>
            <a:ext cx="5303520" cy="5349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Text 9"/>
          <p:cNvSpPr/>
          <p:nvPr/>
        </p:nvSpPr>
        <p:spPr>
          <a:xfrm>
            <a:off x="6720840" y="1143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TAB-BY-TAB STORY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720840" y="14173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dashboard feeds the AI layer and the Evidence Hub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720840" y="2331720"/>
            <a:ext cx="44805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Campaign Effectiveness shows the campaign funnel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Agent Performance shows productivity and coaching needs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Policy Lapse Risk identifies revenue at risk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AI Intelligence answers open business questions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• Insight Evidence Hub explains why the answer is trusted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498080" y="5257800"/>
            <a:ext cx="2103120" cy="237744"/>
          </a:xfrm>
          <a:prstGeom prst="roundRect">
            <a:avLst>
              <a:gd name="adj" fmla="val 46154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/>
          <p:nvPr/>
        </p:nvSpPr>
        <p:spPr>
          <a:xfrm>
            <a:off x="7552944" y="5308092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 → Ask → Evidence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B261A-99D9-3E6F-5378-9D965AF2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4021219-AA5C-A241-5E08-1E25C4E2DF62}"/>
              </a:ext>
            </a:extLst>
          </p:cNvPr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application flow happens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D6A6ED-AE0F-B4B3-3D3F-00DEB79214C8}"/>
              </a:ext>
            </a:extLst>
          </p:cNvPr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8098698-59DA-834A-0462-075E3A6D1D33}"/>
              </a:ext>
            </a:extLst>
          </p:cNvPr>
          <p:cNvSpPr/>
          <p:nvPr/>
        </p:nvSpPr>
        <p:spPr>
          <a:xfrm>
            <a:off x="621792" y="77266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6D95107-44D7-3664-B9C8-2A32CB7B6ABD}"/>
              </a:ext>
            </a:extLst>
          </p:cNvPr>
          <p:cNvSpPr/>
          <p:nvPr/>
        </p:nvSpPr>
        <p:spPr>
          <a:xfrm>
            <a:off x="9795256" y="1014985"/>
            <a:ext cx="1947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From reports → decisions</a:t>
            </a:r>
            <a:endParaRPr lang="en-US" sz="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17135-1873-FD10-66AA-D86A70F6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109" y="1124713"/>
            <a:ext cx="8699389" cy="3506386"/>
          </a:xfrm>
          <a:prstGeom prst="rect">
            <a:avLst/>
          </a:prstGeom>
        </p:spPr>
      </p:pic>
      <p:sp>
        <p:nvSpPr>
          <p:cNvPr id="4" name="Text 10">
            <a:extLst>
              <a:ext uri="{FF2B5EF4-FFF2-40B4-BE49-F238E27FC236}">
                <a16:creationId xmlns:a16="http://schemas.microsoft.com/office/drawing/2014/main" id="{0D9AD6B5-E698-84B9-DDD6-C35D462AC350}"/>
              </a:ext>
            </a:extLst>
          </p:cNvPr>
          <p:cNvSpPr/>
          <p:nvPr/>
        </p:nvSpPr>
        <p:spPr>
          <a:xfrm>
            <a:off x="3309827" y="536084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E31B23"/>
                </a:solidFill>
              </a:rPr>
              <a:t>1</a:t>
            </a: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8BB57809-696D-50DC-4FCD-EB02F2222FB3}"/>
              </a:ext>
            </a:extLst>
          </p:cNvPr>
          <p:cNvSpPr/>
          <p:nvPr/>
        </p:nvSpPr>
        <p:spPr>
          <a:xfrm>
            <a:off x="3152255" y="5643781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React / Next.js</a:t>
            </a:r>
            <a:endParaRPr lang="en-US" sz="13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EDB67E49-1421-74FD-6E14-F19F2542B5F2}"/>
              </a:ext>
            </a:extLst>
          </p:cNvPr>
          <p:cNvSpPr/>
          <p:nvPr/>
        </p:nvSpPr>
        <p:spPr>
          <a:xfrm>
            <a:off x="3125916" y="5901746"/>
            <a:ext cx="1649799" cy="336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Role-aware frontend</a:t>
            </a:r>
            <a:endParaRPr lang="en-US" sz="950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40A13B5C-253A-8EC6-ADF0-C15EA0D2A96E}"/>
              </a:ext>
            </a:extLst>
          </p:cNvPr>
          <p:cNvSpPr/>
          <p:nvPr/>
        </p:nvSpPr>
        <p:spPr>
          <a:xfrm>
            <a:off x="4227271" y="5111496"/>
            <a:ext cx="2248403" cy="1417320"/>
          </a:xfrm>
          <a:prstGeom prst="roundRect">
            <a:avLst>
              <a:gd name="adj" fmla="val 7742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en-SG" sz="2400" b="1">
              <a:solidFill>
                <a:srgbClr val="E31B23"/>
              </a:solidFill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EF0C2B4A-5D9B-7505-7E82-93C43860DC3F}"/>
              </a:ext>
            </a:extLst>
          </p:cNvPr>
          <p:cNvSpPr/>
          <p:nvPr/>
        </p:nvSpPr>
        <p:spPr>
          <a:xfrm>
            <a:off x="5074977" y="5400233"/>
            <a:ext cx="16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E31B23"/>
                </a:solidFill>
              </a:rPr>
              <a:t>2</a:t>
            </a: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2C3F4A16-01E0-01EC-D49C-EEC3C5D28B48}"/>
              </a:ext>
            </a:extLst>
          </p:cNvPr>
          <p:cNvSpPr/>
          <p:nvPr/>
        </p:nvSpPr>
        <p:spPr>
          <a:xfrm>
            <a:off x="5064916" y="5622855"/>
            <a:ext cx="192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FastAPI services</a:t>
            </a:r>
            <a:endParaRPr lang="en-US" sz="13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ED953B0F-739B-1747-8487-3DCEA8051F57}"/>
              </a:ext>
            </a:extLst>
          </p:cNvPr>
          <p:cNvSpPr/>
          <p:nvPr/>
        </p:nvSpPr>
        <p:spPr>
          <a:xfrm>
            <a:off x="5074977" y="5818745"/>
            <a:ext cx="192136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Orchestrates context retrieval, SQL generation, execution and evidence logging</a:t>
            </a:r>
            <a:endParaRPr lang="en-US" sz="95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43D0DB13-681C-B53E-FD02-237309BAD974}"/>
              </a:ext>
            </a:extLst>
          </p:cNvPr>
          <p:cNvSpPr/>
          <p:nvPr/>
        </p:nvSpPr>
        <p:spPr>
          <a:xfrm>
            <a:off x="7301678" y="5381242"/>
            <a:ext cx="16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E31B23"/>
                </a:solidFill>
              </a:rPr>
              <a:t>3</a:t>
            </a: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77C44FCC-9FC2-8FB5-BA60-DADC891B7C91}"/>
              </a:ext>
            </a:extLst>
          </p:cNvPr>
          <p:cNvSpPr/>
          <p:nvPr/>
        </p:nvSpPr>
        <p:spPr>
          <a:xfrm>
            <a:off x="7311739" y="5564825"/>
            <a:ext cx="192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LLM provider</a:t>
            </a:r>
            <a:endParaRPr lang="en-US" sz="130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370BB647-A69A-4E3C-162D-58CD6E0CBA66}"/>
              </a:ext>
            </a:extLst>
          </p:cNvPr>
          <p:cNvSpPr/>
          <p:nvPr/>
        </p:nvSpPr>
        <p:spPr>
          <a:xfrm>
            <a:off x="7301678" y="5735748"/>
            <a:ext cx="192136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Generates SQL and human business insights using retrieved context</a:t>
            </a:r>
            <a:endParaRPr lang="en-US" sz="95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8B6DF322-FEA6-763B-AE86-A5F1917AC3DC}"/>
              </a:ext>
            </a:extLst>
          </p:cNvPr>
          <p:cNvSpPr/>
          <p:nvPr/>
        </p:nvSpPr>
        <p:spPr>
          <a:xfrm>
            <a:off x="9841687" y="5294375"/>
            <a:ext cx="295844" cy="25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4A4EF0EA-4128-4AC3-4500-CFD5E2753233}"/>
              </a:ext>
            </a:extLst>
          </p:cNvPr>
          <p:cNvSpPr/>
          <p:nvPr/>
        </p:nvSpPr>
        <p:spPr>
          <a:xfrm>
            <a:off x="9841687" y="5522976"/>
            <a:ext cx="192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Supabase + pgvector</a:t>
            </a:r>
            <a:endParaRPr lang="en-US" sz="130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7C1A8584-B0E9-AA3F-EAA5-CE0771743E8C}"/>
              </a:ext>
            </a:extLst>
          </p:cNvPr>
          <p:cNvSpPr/>
          <p:nvPr/>
        </p:nvSpPr>
        <p:spPr>
          <a:xfrm>
            <a:off x="9821565" y="5735748"/>
            <a:ext cx="192136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Holds facts and semantic context embeddings</a:t>
            </a:r>
            <a:endParaRPr lang="en-US" sz="950" dirty="0"/>
          </a:p>
        </p:txBody>
      </p:sp>
      <p:pic>
        <p:nvPicPr>
          <p:cNvPr id="23" name="Image 0" descr="/mnt/data/02-data-architecture.jpg">
            <a:extLst>
              <a:ext uri="{FF2B5EF4-FFF2-40B4-BE49-F238E27FC236}">
                <a16:creationId xmlns:a16="http://schemas.microsoft.com/office/drawing/2014/main" id="{A82BA106-7EC1-5715-67C3-D1A4AC8C3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27" y="1060705"/>
            <a:ext cx="2692690" cy="49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3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Evidence Hub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11201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0" name="Image 0" descr="/mnt/data/09-insight-evidence-line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13" y="1033272"/>
            <a:ext cx="10140215" cy="1965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5204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comes from showing the lineage from data to recommendation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7240" y="4114800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/>
          <p:nvPr/>
        </p:nvSpPr>
        <p:spPr>
          <a:xfrm>
            <a:off x="1005840" y="4224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Source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14600" y="4224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Campaigns, responses, leads, policies, model scores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63640" y="4114800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/>
          <p:nvPr/>
        </p:nvSpPr>
        <p:spPr>
          <a:xfrm>
            <a:off x="6492240" y="4224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Generated SQL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01000" y="4224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Validated read-only query, row limits and execution status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4956048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6"/>
          <p:cNvSpPr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Semantic context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514600" y="5065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KPI definitions, table meanings, join paths and model context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63640" y="4956048"/>
            <a:ext cx="4983480" cy="594360"/>
          </a:xfrm>
          <a:prstGeom prst="roundRect">
            <a:avLst>
              <a:gd name="adj" fmla="val 18462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9"/>
          <p:cNvSpPr/>
          <p:nvPr/>
        </p:nvSpPr>
        <p:spPr>
          <a:xfrm>
            <a:off x="64922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Business insight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01000" y="5065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Human explanation with key data points and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3931920" cy="53035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804672" y="1143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LAYERED BUILD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4672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synthetic data to evidence-backed AI insights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33375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1. Generate insurance data for customers, policies, agents and campaigns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2. Load into Supabase operational tables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3. Build leakage-safe features and model scores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4. Embed semantic context in pgvector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5. Serve insights through FastAPI and React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349240"/>
            <a:ext cx="2834640" cy="237744"/>
          </a:xfrm>
          <a:prstGeom prst="roundRect">
            <a:avLst>
              <a:gd name="adj" fmla="val 46154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969264" y="5399532"/>
            <a:ext cx="2724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Facts stay relational • Meaning goes vector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704088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6" name="Image 0" descr="/mnt/data/02-data-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109" y="1024128"/>
            <a:ext cx="31195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DECISION INTELLIGENCE PLATFORM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Campaign effectiveness walkthrough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55480" y="2560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5E6B7A"/>
                </a:solidFill>
              </a:rPr>
              <a:t>Insurance Intelligence Product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1750040" y="155448"/>
            <a:ext cx="256032" cy="25603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7620">
            <a:solidFill>
              <a:srgbClr val="D8E0E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</a:rPr>
              <a:t>Client briefing | 10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12080" y="65653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</a:rPr>
              <a:t>Synthetic insurance data • Supabase • pgvector • Gemini / LLM • Evidence Hub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business question: “Which campaign generated the highest policy conversion?”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" y="1325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B7A"/>
                </a:solidFill>
              </a:rPr>
              <a:t>A campaign manager needs to move from engagement metrics to business action.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758952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758952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Target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Customers selected for campaign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62072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3026664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3026664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56432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Respond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6432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Open, click, reply or opt-in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9784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5294376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5294376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24144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Convert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2414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Lead → opportunity → policy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97496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7562088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7562088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91856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Score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91856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Propensity and lead conversion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65208" y="201168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FFF3F3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9829800" y="2240280"/>
            <a:ext cx="320040" cy="32004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9829800" y="2304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259568" y="21762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59568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</a:rPr>
              <a:t>Assign leads and retarget segments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868680" y="3931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AI ANSWER SHOULD SAY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8680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The Health Protection Upgrade campaign generated the strongest conversion, driven by affluent family customers. Prioritize follow-up for engaged non-converters and assign high-propensity leads to senior agents.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172200" y="365760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0" dir="2700000" algn="bl" rotWithShape="0">
              <a:srgbClr val="9AA7B4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6446520" y="3931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1B23"/>
                </a:solidFill>
              </a:rPr>
              <a:t>EVIDENCE BEHIND IT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campaigns, campaign_targets, campaign_responses, leads, opportunities, policies, model_scores, next_best_actions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3429000" y="5715000"/>
            <a:ext cx="5394960" cy="237744"/>
          </a:xfrm>
          <a:prstGeom prst="roundRect">
            <a:avLst>
              <a:gd name="adj" fmla="val 46154"/>
            </a:avLst>
          </a:prstGeom>
          <a:solidFill>
            <a:srgbClr val="0D1B34"/>
          </a:solidFill>
          <a:ln w="12700">
            <a:solidFill>
              <a:srgbClr val="0D1B3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3483864" y="5765292"/>
            <a:ext cx="5285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 answers standard questions • AI answers follow-up questions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1372</Words>
  <Application>Microsoft Office PowerPoint</Application>
  <PresentationFormat>Widescreen</PresentationFormat>
  <Paragraphs>194</Paragraphs>
  <Slides>9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Decision Intelligence Platform - Client Presentation</dc:title>
  <dc:subject>Insurance Decision Intelligence Platform</dc:subject>
  <dc:creator>OpenAI</dc:creator>
  <cp:lastModifiedBy>Nitin Bajpai</cp:lastModifiedBy>
  <cp:revision>3</cp:revision>
  <dcterms:created xsi:type="dcterms:W3CDTF">2026-06-04T00:01:11Z</dcterms:created>
  <dcterms:modified xsi:type="dcterms:W3CDTF">2026-06-04T23:23:36Z</dcterms:modified>
</cp:coreProperties>
</file>